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2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f240946-b1da-37a1-20c0-bf3cc7a739dd}">
          <p14:sldIdLst>
            <p14:sldId id="256"/>
          </p14:sldIdLst>
        </p14:section>
        <p14:section name="Problem" id="{0f3774e3-b58c-681f-ab2d-c672e2a63b8a}">
          <p14:sldIdLst>
            <p14:sldId id="257"/>
            <p14:sldId id="258"/>
          </p14:sldIdLst>
        </p14:section>
        <p14:section name="Goals" id="{cc062972-e9fb-1d66-8747-cd2f0d85df67}">
          <p14:sldIdLst>
            <p14:sldId id="259"/>
          </p14:sldIdLst>
        </p14:section>
        <p14:section name="Method" id="{024393f3-83d9-3493-fbf8-fa4b2d62033c}">
          <p14:sldIdLst>
            <p14:sldId id="260"/>
            <p14:sldId id="261"/>
          </p14:sldIdLst>
        </p14:section>
        <p14:section name="Data" id="{0316140e-bb85-b08e-d232-3ea8cbd1c290}">
          <p14:sldIdLst>
            <p14:sldId id="262"/>
          </p14:sldIdLst>
        </p14:section>
        <p14:section name="Evaluation" id="{d4905922-63c2-8d34-9d17-49824ac1ed37}">
          <p14:sldIdLst>
            <p14:sldId id="263"/>
          </p14:sldIdLst>
        </p14:section>
        <p14:section name="Wrap-up" id="{c1d779b2-725a-f540-c921-351cfa5d63c4}">
          <p14:sldIdLst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0212B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0212B"/>
                </a:solidFill>
                <a:latin typeface="Calibri" panose="020F0502020204030204"/>
              </a:rPr>
              <a:t>Average per session: attacks try more, fail more</a:t>
            </a:r>
            <a:endParaRPr sz="1200" b="0" i="0" u="none" strike="noStrike">
              <a:solidFill>
                <a:srgbClr val="10212B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sessions</c:v>
                </c:pt>
              </c:strCache>
            </c:strRef>
          </c:tx>
          <c:spPr>
            <a:solidFill>
              <a:srgbClr val="2F7D8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0212B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Login attempts</c:v>
                </c:pt>
                <c:pt idx="1">
                  <c:v>Failed logins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3.54</c:v>
                </c:pt>
                <c:pt idx="1">
                  <c:v>1.18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Attack sessions</c:v>
                </c:pt>
              </c:strCache>
            </c:strRef>
          </c:tx>
          <c:spPr>
            <a:solidFill>
              <a:srgbClr val="D9482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0212B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Login attempts</c:v>
                </c:pt>
                <c:pt idx="1">
                  <c:v>Failed logins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4.64</c:v>
                </c:pt>
                <c:pt idx="1">
                  <c:v>1.94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5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rgbClr val="5B6B75"/>
              </a:solidFill>
              <a:latin typeface="Calibri" panose="020F0502020204030204"/>
              <a:ea typeface="+mn-ea"/>
              <a:cs typeface="Calibri" panose="020F0502020204030204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9d79cd2-4d30-45b6-80c0-54f63b62adb0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we detect credential stuffing, where bots try stolen email/password pairs on many sites. The picture is a mock login log: normal users succeed occasionally, a bot fails over and over across many accounts in the same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Cybersecurity is a critical concern. Credential stuffing leads to account takeover, financial loss and privacy violations, and it must be caught in real time because it is automated.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Emphasise that the attacker is not guessing; the passwords are real, just from a different site. The only weakness being exploited is password reuse.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goals. The balance between catching attacks and not annoying real users is the central trade-off we measure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stages, read left to right then down. Stage 4 is where the two techniques are trained. In our dataset 1,966 rows have a missing encryption value, which is the kind of gap the cleaning step handles.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analogies. LightGBM has seen examples of attacks. Isolation Forest has not; it just notices what is unusual. We compare both on the same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9,537 login sessions, 10 columns, about 45% labeled as attacks (4,264 attacks vs 5,273 normal). The chart uses real averages from the file: attack sessions average 4.64 login attempts and 1.94 failed logins, normal ones 3.54 and 1.18. This is the signal the models 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standard metrics, each in plain English. The four boxes on the right are the confusion matrix: the two good outcomes and the two mistakes. Both models are compared on the same test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story: problem, attack, goal, method, data, metrics.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0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47472"/>
            <a:ext cx="804672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9CC2C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47472"/>
            <a:ext cx="804672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021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9CC2C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CC2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PROJECT  |  CYBERSECURITY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Credential Stuffing Attack Detection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56790"/>
            <a:ext cx="4572000" cy="600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CC2C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Using LightGBM and Isolation Forest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73075" y="3105150"/>
            <a:ext cx="4389120" cy="11468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IN" altLang="en-US" sz="1400" dirty="0"/>
              <a:t>2</a:t>
            </a:r>
            <a:r>
              <a:rPr lang="en-IN" altLang="en-US" dirty="0">
                <a:solidFill>
                  <a:schemeClr val="bg1"/>
                </a:solidFill>
              </a:rPr>
              <a:t>Project by:-</a:t>
            </a:r>
            <a:endParaRPr lang="en-IN" alt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altLang="en-US" sz="1400" dirty="0">
                <a:solidFill>
                  <a:schemeClr val="bg1"/>
                </a:solidFill>
              </a:rPr>
              <a:t>  Hruday Deepak  -- 2520030138</a:t>
            </a:r>
            <a:endParaRPr lang="en-IN" alt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altLang="en-US" sz="1400" dirty="0">
                <a:solidFill>
                  <a:schemeClr val="bg1"/>
                </a:solidFill>
              </a:rPr>
              <a:t>  B.Surya Prakash Reddy -- 2520030145</a:t>
            </a:r>
            <a:endParaRPr lang="en-IN" alt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altLang="en-US" sz="1400" dirty="0"/>
              <a:t>K</a:t>
            </a:r>
            <a:r>
              <a:rPr lang="en-IN" altLang="en-US" sz="1400" dirty="0">
                <a:solidFill>
                  <a:schemeClr val="bg1"/>
                </a:solidFill>
              </a:rPr>
              <a:t>K.Aashritha  -- 2520030178</a:t>
            </a:r>
            <a:endParaRPr lang="en-US" sz="1400" dirty="0"/>
          </a:p>
          <a:p>
            <a:pPr marL="0" indent="0">
              <a:buNone/>
            </a:pPr>
            <a:endParaRPr lang="en-IN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Log panel"/>
          <p:cNvSpPr/>
          <p:nvPr/>
        </p:nvSpPr>
        <p:spPr>
          <a:xfrm>
            <a:off x="5440680" y="685800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1B3340"/>
          </a:solidFill>
          <a:ln w="12700">
            <a:solidFill>
              <a:srgbClr val="2E4B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23560" y="80467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C2C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auth.log  -  live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1170432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09:14:02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170432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alice.m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117043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FD1A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1444752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09:14:03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444752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raj_k92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144475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FD1A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1691640"/>
            <a:ext cx="2880360" cy="274320"/>
          </a:xfrm>
          <a:prstGeom prst="rect">
            <a:avLst/>
          </a:prstGeom>
          <a:solidFill>
            <a:srgbClr val="D9482B">
              <a:alpha val="22000"/>
            </a:srgbClr>
          </a:solidFill>
        </p:spPr>
      </p:sp>
      <p:sp>
        <p:nvSpPr>
          <p:cNvPr id="15" name="Text 13"/>
          <p:cNvSpPr txBox="1"/>
          <p:nvPr/>
        </p:nvSpPr>
        <p:spPr>
          <a:xfrm>
            <a:off x="5623560" y="1719072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09:14:03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719072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user_4417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171907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8A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1965960"/>
            <a:ext cx="2880360" cy="274320"/>
          </a:xfrm>
          <a:prstGeom prst="rect">
            <a:avLst/>
          </a:prstGeom>
          <a:solidFill>
            <a:srgbClr val="D9482B">
              <a:alpha val="22000"/>
            </a:srgbClr>
          </a:solidFill>
        </p:spPr>
      </p:sp>
      <p:sp>
        <p:nvSpPr>
          <p:cNvPr id="19" name="Text 17"/>
          <p:cNvSpPr txBox="1"/>
          <p:nvPr/>
        </p:nvSpPr>
        <p:spPr>
          <a:xfrm>
            <a:off x="5623560" y="1993392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09:14:03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1993392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user_4418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199339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8A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FAIL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240280"/>
            <a:ext cx="2880360" cy="274320"/>
          </a:xfrm>
          <a:prstGeom prst="rect">
            <a:avLst/>
          </a:prstGeom>
          <a:solidFill>
            <a:srgbClr val="D9482B">
              <a:alpha val="22000"/>
            </a:srgbClr>
          </a:solidFill>
        </p:spPr>
      </p:sp>
      <p:sp>
        <p:nvSpPr>
          <p:cNvPr id="23" name="Text 21"/>
          <p:cNvSpPr txBox="1"/>
          <p:nvPr/>
        </p:nvSpPr>
        <p:spPr>
          <a:xfrm>
            <a:off x="5623560" y="2267712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09:14:03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2267712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user_4419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226771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8A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FAIL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2542032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09:14:04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2542032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priya.s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254203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FD1A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2788920"/>
            <a:ext cx="2880360" cy="274320"/>
          </a:xfrm>
          <a:prstGeom prst="rect">
            <a:avLst/>
          </a:prstGeom>
          <a:solidFill>
            <a:srgbClr val="D9482B">
              <a:alpha val="22000"/>
            </a:srgbClr>
          </a:solidFill>
        </p:spPr>
      </p:sp>
      <p:sp>
        <p:nvSpPr>
          <p:cNvPr id="30" name="Text 28"/>
          <p:cNvSpPr txBox="1"/>
          <p:nvPr/>
        </p:nvSpPr>
        <p:spPr>
          <a:xfrm>
            <a:off x="5623560" y="2816352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09:14:04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2816352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user_4420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281635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8A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FAIL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3063240"/>
            <a:ext cx="2880360" cy="274320"/>
          </a:xfrm>
          <a:prstGeom prst="rect">
            <a:avLst/>
          </a:prstGeom>
          <a:solidFill>
            <a:srgbClr val="D9482B">
              <a:alpha val="22000"/>
            </a:srgbClr>
          </a:solidFill>
        </p:spPr>
      </p:sp>
      <p:sp>
        <p:nvSpPr>
          <p:cNvPr id="34" name="Text 32"/>
          <p:cNvSpPr txBox="1"/>
          <p:nvPr/>
        </p:nvSpPr>
        <p:spPr>
          <a:xfrm>
            <a:off x="5623560" y="3090672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09:14:04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355080" y="3090672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user_4421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0" y="309067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8A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FAIL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623560" y="3364992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09:14:05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355080" y="3364992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dev.nair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336499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FD1A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77840" y="3611880"/>
            <a:ext cx="2880360" cy="274320"/>
          </a:xfrm>
          <a:prstGeom prst="rect">
            <a:avLst/>
          </a:prstGeom>
          <a:solidFill>
            <a:srgbClr val="D9482B">
              <a:alpha val="22000"/>
            </a:srgbClr>
          </a:solidFill>
        </p:spPr>
      </p:sp>
      <p:sp>
        <p:nvSpPr>
          <p:cNvPr id="41" name="Text 39"/>
          <p:cNvSpPr txBox="1"/>
          <p:nvPr/>
        </p:nvSpPr>
        <p:spPr>
          <a:xfrm>
            <a:off x="5623560" y="3639312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09:14:05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355080" y="3639312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user_4422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772400" y="363931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8A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FAIL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623560" y="402336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C2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second, many accounts, one pattern.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47472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21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this problem matters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2004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online platform is a target. Attackers don't need to hack anything; they just try passwords that already leaked.</a:t>
            </a:r>
            <a:endParaRPr lang="en-US" sz="1800" dirty="0"/>
          </a:p>
        </p:txBody>
      </p:sp>
      <p:sp>
        <p:nvSpPr>
          <p:cNvPr id="4" name="Card 1"/>
          <p:cNvSpPr/>
          <p:nvPr/>
        </p:nvSpPr>
        <p:spPr>
          <a:xfrm>
            <a:off x="4114800" y="1280160"/>
            <a:ext cx="448056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effectLst>
            <a:outerShdw blurRad="101600" dist="25400" dir="5400000" algn="bl" rotWithShape="0">
              <a:srgbClr val="1021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0" y="1435608"/>
            <a:ext cx="548640" cy="548640"/>
          </a:xfrm>
          <a:prstGeom prst="ellipse">
            <a:avLst/>
          </a:prstGeom>
          <a:solidFill>
            <a:schemeClr val="tx1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3984" y="15819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0" y="1389888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 takeover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1700784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stolen login lets the attacker act as the real user.</a:t>
            </a:r>
            <a:endParaRPr lang="en-US" sz="1300" dirty="0"/>
          </a:p>
        </p:txBody>
      </p:sp>
      <p:sp>
        <p:nvSpPr>
          <p:cNvPr id="9" name="Card 2"/>
          <p:cNvSpPr/>
          <p:nvPr/>
        </p:nvSpPr>
        <p:spPr>
          <a:xfrm>
            <a:off x="4114800" y="2331720"/>
            <a:ext cx="448056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effectLst>
            <a:outerShdw blurRad="101600" dist="25400" dir="5400000" algn="bl" rotWithShape="0">
              <a:srgbClr val="10212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2487168"/>
            <a:ext cx="548640" cy="548640"/>
          </a:xfrm>
          <a:prstGeom prst="ellipse">
            <a:avLst/>
          </a:prstGeom>
          <a:solidFill>
            <a:schemeClr val="tx1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26334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0" y="2441448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loss and data theft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029200" y="2752344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Banking, shopping and personal data are exposed.</a:t>
            </a:r>
            <a:endParaRPr lang="en-US" sz="1300" dirty="0"/>
          </a:p>
        </p:txBody>
      </p:sp>
      <p:sp>
        <p:nvSpPr>
          <p:cNvPr id="14" name="Card 3"/>
          <p:cNvSpPr/>
          <p:nvPr/>
        </p:nvSpPr>
        <p:spPr>
          <a:xfrm>
            <a:off x="4114800" y="3383280"/>
            <a:ext cx="448056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effectLst>
            <a:outerShdw blurRad="101600" dist="25400" dir="5400000" algn="bl" rotWithShape="0">
              <a:srgbClr val="10212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7680" y="3538728"/>
            <a:ext cx="548640" cy="548640"/>
          </a:xfrm>
          <a:prstGeom prst="ellipse">
            <a:avLst/>
          </a:prstGeom>
          <a:solidFill>
            <a:schemeClr val="tx1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368503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029200" y="3493008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Needs real-time detection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029200" y="3803904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Bots try thousands of logins per second; humans can't keep up.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47472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21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credential stuffing?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51560" y="1371600"/>
            <a:ext cx="822960" cy="822960"/>
          </a:xfrm>
          <a:prstGeom prst="ellipse">
            <a:avLst/>
          </a:prstGeom>
          <a:solidFill>
            <a:schemeClr val="tx1"/>
          </a:solidFill>
          <a:effectLst>
            <a:outerShdw blurRad="101600" dist="25400" dir="5400000" algn="bl" rotWithShape="0">
              <a:srgbClr val="10212B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60020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0" y="1783080"/>
            <a:ext cx="731520" cy="0"/>
          </a:xfrm>
          <a:prstGeom prst="line">
            <a:avLst/>
          </a:prstGeom>
          <a:noFill/>
          <a:ln w="19050">
            <a:solidFill>
              <a:srgbClr val="5B6B75"/>
            </a:solidFill>
            <a:prstDash val="dash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548640" y="23774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 Data breach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72491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random shop's user list leaks years ago.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108960" y="1371600"/>
            <a:ext cx="822960" cy="822960"/>
          </a:xfrm>
          <a:prstGeom prst="ellipse">
            <a:avLst/>
          </a:prstGeom>
          <a:solidFill>
            <a:schemeClr val="tx1"/>
          </a:solidFill>
          <a:effectLst>
            <a:outerShdw blurRad="101600" dist="25400" dir="5400000" algn="bl" rotWithShape="0">
              <a:srgbClr val="10212B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00200"/>
            <a:ext cx="36576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069080" y="1783080"/>
            <a:ext cx="731520" cy="0"/>
          </a:xfrm>
          <a:prstGeom prst="line">
            <a:avLst/>
          </a:prstGeom>
          <a:noFill/>
          <a:ln w="19050">
            <a:solidFill>
              <a:srgbClr val="5B6B75"/>
            </a:solidFill>
            <a:prstDash val="dash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2606040" y="23774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 Leaked pairs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651760" y="272491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and password combos are sold or shared.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166360" y="1371600"/>
            <a:ext cx="822960" cy="822960"/>
          </a:xfrm>
          <a:prstGeom prst="ellipse">
            <a:avLst/>
          </a:prstGeom>
          <a:solidFill>
            <a:schemeClr val="tx1"/>
          </a:solidFill>
          <a:effectLst>
            <a:outerShdw blurRad="101600" dist="25400" dir="5400000" algn="bl" rotWithShape="0">
              <a:srgbClr val="10212B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00200"/>
            <a:ext cx="365760" cy="3657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126480" y="1783080"/>
            <a:ext cx="731520" cy="0"/>
          </a:xfrm>
          <a:prstGeom prst="line">
            <a:avLst/>
          </a:prstGeom>
          <a:noFill/>
          <a:ln w="19050">
            <a:solidFill>
              <a:srgbClr val="5B6B75"/>
            </a:solidFill>
            <a:prstDash val="dash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4663440" y="23774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 Bot tries them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709160" y="272491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replays the pairs on banks, social apps, everywhere.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822960" cy="822960"/>
          </a:xfrm>
          <a:prstGeom prst="ellipse">
            <a:avLst/>
          </a:prstGeom>
          <a:solidFill>
            <a:schemeClr val="accent1"/>
          </a:solidFill>
          <a:effectLst>
            <a:outerShdw blurRad="101600" dist="25400" dir="5400000" algn="bl" rotWithShape="0">
              <a:srgbClr val="10212B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600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20840" y="23774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 Account opens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766560" y="272491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Anyone who reused a password is taken over.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8640" y="3794760"/>
            <a:ext cx="804672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</p:spPr>
      </p:sp>
      <p:sp>
        <p:nvSpPr>
          <p:cNvPr id="23" name="Text 17"/>
          <p:cNvSpPr txBox="1"/>
          <p:nvPr/>
        </p:nvSpPr>
        <p:spPr>
          <a:xfrm>
            <a:off x="777240" y="3840480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48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works: </a:t>
            </a:r>
            <a:r>
              <a:rPr lang="en-US" sz="1500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reuse passwords, so one old leak unlocks many new accounts.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47472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 want to achieve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1B3340"/>
          </a:solidFill>
          <a:ln w="12700">
            <a:solidFill>
              <a:srgbClr val="2E4B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55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7276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malicious logins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93852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each login attempt as legitimate or an attack.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1B3340"/>
          </a:solidFill>
          <a:ln w="12700">
            <a:solidFill>
              <a:srgbClr val="2E4B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600200"/>
            <a:ext cx="566928" cy="56692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75564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57276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 in real time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623560" y="193852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 suspicious attempts as they happen, not after the damage.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88036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1B3340"/>
          </a:solidFill>
          <a:ln w="12700">
            <a:solidFill>
              <a:srgbClr val="2E4B5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3108960"/>
            <a:ext cx="566928" cy="56692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26440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0815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Cut false alarms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44728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Catch attackers without blocking genuine users.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63440" y="288036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1B3340"/>
          </a:solidFill>
          <a:ln w="12700">
            <a:solidFill>
              <a:srgbClr val="2E4B5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108960"/>
            <a:ext cx="566928" cy="56692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26440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23560" y="30815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Strengthen authentication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623560" y="344728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 platforms prevent account takeover.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9CC2C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47472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21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the system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468880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effectLst>
            <a:outerShdw blurRad="101600" dist="25400" dir="5400000" algn="bl" rotWithShape="0">
              <a:srgbClr val="10212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chemeClr val="tx1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60477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68880" y="141732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5DCD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2996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data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22576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records with an attack label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468880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effectLst>
            <a:outerShdw blurRad="101600" dist="25400" dir="5400000" algn="bl" rotWithShape="0">
              <a:srgbClr val="10212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chemeClr val="tx1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160477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12080" y="141732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5DCD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02996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322576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 missing values, encode text columns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1280160"/>
            <a:ext cx="2468880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effectLst>
            <a:outerShdw blurRad="101600" dist="25400" dir="5400000" algn="bl" rotWithShape="0">
              <a:srgbClr val="10212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463040"/>
            <a:ext cx="502920" cy="502920"/>
          </a:xfrm>
          <a:prstGeom prst="ellipse">
            <a:avLst/>
          </a:prstGeom>
          <a:solidFill>
            <a:schemeClr val="tx1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52" y="1604772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955280" y="141732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5DCD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202996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322576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Attempts, failures, IP score, duration, time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3017520"/>
            <a:ext cx="2468880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effectLst>
            <a:outerShdw blurRad="101600" dist="25400" dir="5400000" algn="bl" rotWithShape="0">
              <a:srgbClr val="10212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3342132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468880" y="315468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5DCD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731520" y="376732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models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31520" y="4059936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LightGBM and Isolation Forest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291840" y="3017520"/>
            <a:ext cx="2468880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effectLst>
            <a:outerShdw blurRad="101600" dist="25400" dir="5400000" algn="bl" rotWithShape="0">
              <a:srgbClr val="10212B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474720" y="3200400"/>
            <a:ext cx="502920" cy="502920"/>
          </a:xfrm>
          <a:prstGeom prst="ellipse">
            <a:avLst/>
          </a:prstGeom>
          <a:solidFill>
            <a:schemeClr val="tx1"/>
          </a:solidFill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452" y="3342132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212080" y="315468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5DCD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4"/>
          <p:cNvSpPr txBox="1"/>
          <p:nvPr/>
        </p:nvSpPr>
        <p:spPr>
          <a:xfrm>
            <a:off x="3474720" y="376732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3474720" y="4059936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on the same test data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6035040" y="3017520"/>
            <a:ext cx="2468880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effectLst>
            <a:outerShdw blurRad="101600" dist="25400" dir="5400000" algn="bl" rotWithShape="0">
              <a:srgbClr val="10212B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217920" y="3200400"/>
            <a:ext cx="502920" cy="502920"/>
          </a:xfrm>
          <a:prstGeom prst="ellipse">
            <a:avLst/>
          </a:prstGeom>
          <a:solidFill>
            <a:schemeClr val="tx1"/>
          </a:solidFill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9652" y="3342132"/>
            <a:ext cx="228600" cy="2286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955280" y="315468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5DCD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29"/>
          <p:cNvSpPr txBox="1"/>
          <p:nvPr/>
        </p:nvSpPr>
        <p:spPr>
          <a:xfrm>
            <a:off x="6217920" y="376732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</a:t>
            </a:r>
            <a:endParaRPr 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6217920" y="4059936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on suspicious logins</a:t>
            </a:r>
            <a:endParaRPr lang="en-US" sz="12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47472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ways to catch an attacker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931920" cy="3108960"/>
          </a:xfrm>
          <a:prstGeom prst="roundRect">
            <a:avLst>
              <a:gd name="adj" fmla="val 1765"/>
            </a:avLst>
          </a:prstGeom>
          <a:solidFill>
            <a:srgbClr val="1B3340"/>
          </a:solidFill>
          <a:ln w="12700">
            <a:solidFill>
              <a:srgbClr val="2E4B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7007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3619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LightGBM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85623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CC2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SUPERVISED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860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0A52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student who studied past exam papers.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3464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from labeled attack and normal logins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Boosted decision trees, fast and accurate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at attacks that look like ones it has seen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3931920" cy="3108960"/>
          </a:xfrm>
          <a:prstGeom prst="roundRect">
            <a:avLst>
              <a:gd name="adj" fmla="val 1765"/>
            </a:avLst>
          </a:prstGeom>
          <a:solidFill>
            <a:srgbClr val="1B3340"/>
          </a:solidFill>
          <a:ln w="12700">
            <a:solidFill>
              <a:srgbClr val="2E4B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0" y="155448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170078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69280" y="153619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Isolation Forest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5669280" y="185623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CC2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UNSUPERVISED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937760" y="22860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0A52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security guard who spots odd behaviour.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937760" y="283464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Needs no attack labels to train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Isolates points that are rare and unusual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flag new attack styles that labels miss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9CC2C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47472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21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and tools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9,537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331720" y="128016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sessions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214884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columns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48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44.7%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30175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labeled as attacks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Columns: packet size, protocol, login attempts, session duration, encryption, IP reputation, failed logins, browser, unusual-time access.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114800" y="1188720"/>
          <a:ext cx="44805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114800" y="411480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4114800"/>
            <a:ext cx="722376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</p:sp>
      <p:sp>
        <p:nvSpPr>
          <p:cNvPr id="13" name="Text 10"/>
          <p:cNvSpPr txBox="1"/>
          <p:nvPr/>
        </p:nvSpPr>
        <p:spPr>
          <a:xfrm>
            <a:off x="4754880" y="4114800"/>
            <a:ext cx="7223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86984" y="4114800"/>
            <a:ext cx="722376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</p:sp>
      <p:sp>
        <p:nvSpPr>
          <p:cNvPr id="15" name="Text 12"/>
          <p:cNvSpPr txBox="1"/>
          <p:nvPr/>
        </p:nvSpPr>
        <p:spPr>
          <a:xfrm>
            <a:off x="5586984" y="4114800"/>
            <a:ext cx="7223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19088" y="4114800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</p:sp>
      <p:sp>
        <p:nvSpPr>
          <p:cNvPr id="17" name="Text 14"/>
          <p:cNvSpPr txBox="1"/>
          <p:nvPr/>
        </p:nvSpPr>
        <p:spPr>
          <a:xfrm>
            <a:off x="6419088" y="411480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17536" y="4114800"/>
            <a:ext cx="877824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</p:sp>
      <p:sp>
        <p:nvSpPr>
          <p:cNvPr id="19" name="Text 16"/>
          <p:cNvSpPr txBox="1"/>
          <p:nvPr/>
        </p:nvSpPr>
        <p:spPr>
          <a:xfrm>
            <a:off x="7717536" y="4114800"/>
            <a:ext cx="877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LightGBM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47472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21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we measure success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029200" cy="512064"/>
          </a:xfrm>
          <a:prstGeom prst="roundRect">
            <a:avLst>
              <a:gd name="adj" fmla="val 10714"/>
            </a:avLst>
          </a:prstGeom>
          <a:solidFill>
            <a:schemeClr val="bg2"/>
          </a:solidFill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12344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1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Accuracy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280160"/>
            <a:ext cx="3474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of all logins labeled correctly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5029200" cy="512064"/>
          </a:xfrm>
          <a:prstGeom prst="roundRect">
            <a:avLst>
              <a:gd name="adj" fmla="val 10714"/>
            </a:avLst>
          </a:prstGeom>
          <a:solidFill>
            <a:schemeClr val="bg2"/>
          </a:solidFill>
        </p:spPr>
      </p:sp>
      <p:sp>
        <p:nvSpPr>
          <p:cNvPr id="7" name="Text 5"/>
          <p:cNvSpPr txBox="1"/>
          <p:nvPr/>
        </p:nvSpPr>
        <p:spPr>
          <a:xfrm>
            <a:off x="731520" y="1901952"/>
            <a:ext cx="12344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1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901952"/>
            <a:ext cx="3474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the logins flagged, how many were real attacks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5029200" cy="512064"/>
          </a:xfrm>
          <a:prstGeom prst="roundRect">
            <a:avLst>
              <a:gd name="adj" fmla="val 10714"/>
            </a:avLst>
          </a:prstGeom>
          <a:solidFill>
            <a:schemeClr val="bg2"/>
          </a:solidFill>
        </p:spPr>
      </p:sp>
      <p:sp>
        <p:nvSpPr>
          <p:cNvPr id="10" name="Text 8"/>
          <p:cNvSpPr txBox="1"/>
          <p:nvPr/>
        </p:nvSpPr>
        <p:spPr>
          <a:xfrm>
            <a:off x="731520" y="2523744"/>
            <a:ext cx="12344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1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Recall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523744"/>
            <a:ext cx="3474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all real attacks, how many we caught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45536"/>
            <a:ext cx="5029200" cy="512064"/>
          </a:xfrm>
          <a:prstGeom prst="roundRect">
            <a:avLst>
              <a:gd name="adj" fmla="val 10714"/>
            </a:avLst>
          </a:prstGeom>
          <a:solidFill>
            <a:schemeClr val="bg2"/>
          </a:solidFill>
        </p:spPr>
      </p:sp>
      <p:sp>
        <p:nvSpPr>
          <p:cNvPr id="13" name="Text 11"/>
          <p:cNvSpPr txBox="1"/>
          <p:nvPr/>
        </p:nvSpPr>
        <p:spPr>
          <a:xfrm>
            <a:off x="731520" y="3145536"/>
            <a:ext cx="12344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1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F1-Score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3145536"/>
            <a:ext cx="3474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 of precision and recall in one number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67328"/>
            <a:ext cx="5029200" cy="512064"/>
          </a:xfrm>
          <a:prstGeom prst="roundRect">
            <a:avLst>
              <a:gd name="adj" fmla="val 10714"/>
            </a:avLst>
          </a:prstGeom>
          <a:solidFill>
            <a:schemeClr val="bg2"/>
          </a:solidFill>
        </p:spPr>
      </p:sp>
      <p:sp>
        <p:nvSpPr>
          <p:cNvPr id="16" name="Text 14"/>
          <p:cNvSpPr txBox="1"/>
          <p:nvPr/>
        </p:nvSpPr>
        <p:spPr>
          <a:xfrm>
            <a:off x="731520" y="3767328"/>
            <a:ext cx="12344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1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ROC-AUC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3767328"/>
            <a:ext cx="3474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well the model ranks attacks above normal logins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12801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question behind the numbers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1645920"/>
            <a:ext cx="1280160" cy="1188720"/>
          </a:xfrm>
          <a:prstGeom prst="rect">
            <a:avLst/>
          </a:prstGeom>
          <a:solidFill>
            <a:srgbClr val="2F7D8C"/>
          </a:solidFill>
        </p:spPr>
      </p:sp>
      <p:sp>
        <p:nvSpPr>
          <p:cNvPr id="20" name="Text 18"/>
          <p:cNvSpPr txBox="1"/>
          <p:nvPr/>
        </p:nvSpPr>
        <p:spPr>
          <a:xfrm>
            <a:off x="6035040" y="1645920"/>
            <a:ext cx="10972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 caught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0" y="1645920"/>
            <a:ext cx="1280160" cy="1188720"/>
          </a:xfrm>
          <a:prstGeom prst="rect">
            <a:avLst/>
          </a:prstGeom>
          <a:solidFill>
            <a:srgbClr val="D9482B"/>
          </a:solidFill>
        </p:spPr>
      </p:sp>
      <p:sp>
        <p:nvSpPr>
          <p:cNvPr id="22" name="Text 20"/>
          <p:cNvSpPr txBox="1"/>
          <p:nvPr/>
        </p:nvSpPr>
        <p:spPr>
          <a:xfrm>
            <a:off x="7406640" y="1645920"/>
            <a:ext cx="10972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user blocked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0" y="2926080"/>
            <a:ext cx="1280160" cy="1188720"/>
          </a:xfrm>
          <a:prstGeom prst="rect">
            <a:avLst/>
          </a:prstGeom>
          <a:solidFill>
            <a:srgbClr val="E8C9C1"/>
          </a:solidFill>
        </p:spPr>
      </p:sp>
      <p:sp>
        <p:nvSpPr>
          <p:cNvPr id="24" name="Text 22"/>
          <p:cNvSpPr txBox="1"/>
          <p:nvPr/>
        </p:nvSpPr>
        <p:spPr>
          <a:xfrm>
            <a:off x="6035040" y="2926080"/>
            <a:ext cx="10972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 missed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0" y="2926080"/>
            <a:ext cx="1280160" cy="1188720"/>
          </a:xfrm>
          <a:prstGeom prst="rect">
            <a:avLst/>
          </a:prstGeom>
          <a:solidFill>
            <a:srgbClr val="CFE3E7"/>
          </a:solidFill>
        </p:spPr>
      </p:sp>
      <p:sp>
        <p:nvSpPr>
          <p:cNvPr id="26" name="Text 24"/>
          <p:cNvSpPr txBox="1"/>
          <p:nvPr/>
        </p:nvSpPr>
        <p:spPr>
          <a:xfrm>
            <a:off x="7406640" y="2926080"/>
            <a:ext cx="10972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1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user let in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4251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detection = top-left up, red boxes down.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47472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0A52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smarter login gatekeeper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Credential stuffing is automated, fast and hard to spot by hand.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LightGBM learns known attack patterns; Isolation Forest flags the unusual.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Accuracy, precision, recall, F1 and ROC-AUC show which model protects best.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aim: fewer takeovers and fewer false alarms for real users.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0" y="1371600"/>
            <a:ext cx="2103120" cy="2103120"/>
          </a:xfrm>
          <a:prstGeom prst="ellipse">
            <a:avLst/>
          </a:prstGeom>
          <a:solidFill>
            <a:srgbClr val="1B3340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025015"/>
            <a:ext cx="731520" cy="731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0" y="37033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014720" y="4160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9CC2C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 idx="100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1500" y="2381250"/>
            <a:ext cx="381000" cy="381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" y="0"/>
            <a:ext cx="9091295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redential Stuffing">
  <a:themeElements>
    <a:clrScheme name="Credential Stuffing">
      <a:dk1>
        <a:srgbClr val="10212B"/>
      </a:dk1>
      <a:lt1>
        <a:srgbClr val="FFFFFF"/>
      </a:lt1>
      <a:dk2>
        <a:srgbClr val="2B3F4B"/>
      </a:dk2>
      <a:lt2>
        <a:srgbClr val="F1F4F5"/>
      </a:lt2>
      <a:accent1>
        <a:srgbClr val="D9482B"/>
      </a:accent1>
      <a:accent2>
        <a:srgbClr val="2F7D8C"/>
      </a:accent2>
      <a:accent3>
        <a:srgbClr val="5B6B75"/>
      </a:accent3>
      <a:accent4>
        <a:srgbClr val="E0A526"/>
      </a:accent4>
      <a:accent5>
        <a:srgbClr val="9CC2CB"/>
      </a:accent5>
      <a:accent6>
        <a:srgbClr val="A8321A"/>
      </a:accent6>
      <a:hlink>
        <a:srgbClr val="2F7D8C"/>
      </a:hlink>
      <a:folHlink>
        <a:srgbClr val="5B6B75"/>
      </a:folHlink>
    </a:clrScheme>
    <a:fontScheme name="Credential Stuff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redential Stuffing">
  <a:themeElements>
    <a:clrScheme name="Credential Stuffing">
      <a:dk1>
        <a:srgbClr val="10212B"/>
      </a:dk1>
      <a:lt1>
        <a:srgbClr val="FFFFFF"/>
      </a:lt1>
      <a:dk2>
        <a:srgbClr val="2B3F4B"/>
      </a:dk2>
      <a:lt2>
        <a:srgbClr val="F1F4F5"/>
      </a:lt2>
      <a:accent1>
        <a:srgbClr val="D9482B"/>
      </a:accent1>
      <a:accent2>
        <a:srgbClr val="2F7D8C"/>
      </a:accent2>
      <a:accent3>
        <a:srgbClr val="5B6B75"/>
      </a:accent3>
      <a:accent4>
        <a:srgbClr val="E0A526"/>
      </a:accent4>
      <a:accent5>
        <a:srgbClr val="9CC2CB"/>
      </a:accent5>
      <a:accent6>
        <a:srgbClr val="A8321A"/>
      </a:accent6>
      <a:hlink>
        <a:srgbClr val="2F7D8C"/>
      </a:hlink>
      <a:folHlink>
        <a:srgbClr val="5B6B75"/>
      </a:folHlink>
    </a:clrScheme>
    <a:fontScheme name="Credential Stuff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3175</Words>
  <Application>WPS Presentation</Application>
  <PresentationFormat>On-screen Show (16:9)</PresentationFormat>
  <Paragraphs>275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Cambria</vt:lpstr>
      <vt:lpstr>Cambria</vt:lpstr>
      <vt:lpstr>Cambria</vt:lpstr>
      <vt:lpstr>Calibri</vt:lpstr>
      <vt:lpstr>Calibri</vt:lpstr>
      <vt:lpstr>Calibri</vt:lpstr>
      <vt:lpstr>Courier New</vt:lpstr>
      <vt:lpstr>Courier New</vt:lpstr>
      <vt:lpstr>Courier New</vt:lpstr>
      <vt:lpstr>Arial</vt:lpstr>
      <vt:lpstr>Microsoft YaHei</vt:lpstr>
      <vt:lpstr>Arial Unicode MS</vt:lpstr>
      <vt:lpstr>Credential Stuffing</vt:lpstr>
      <vt:lpstr>PowerPoint 演示文稿</vt:lpstr>
      <vt:lpstr>Why this problem matters</vt:lpstr>
      <vt:lpstr>What is credential stuffing?</vt:lpstr>
      <vt:lpstr>What we want to achieve</vt:lpstr>
      <vt:lpstr>How the system works</vt:lpstr>
      <vt:lpstr>Two ways to catch an attacker</vt:lpstr>
      <vt:lpstr>Data and tools</vt:lpstr>
      <vt:lpstr>How we measure success</vt:lpstr>
      <vt:lpstr>Conclusion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Credential Stuffing Attack Detection Using LightGBM and Isolation Forest</dc:title>
  <dc:creator>PptxGenJS</dc:creator>
  <dc:subject>PptxGenJS Presentation</dc:subject>
  <cp:lastModifiedBy>Surya Prakash Reddy</cp:lastModifiedBy>
  <cp:revision>2</cp:revision>
  <dcterms:created xsi:type="dcterms:W3CDTF">2026-10-04T07:33:00Z</dcterms:created>
  <dcterms:modified xsi:type="dcterms:W3CDTF">2026-10-04T07:49:27Z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A65336EE658140ACBCEFFF9D279898AB_12</vt:lpwstr>
  </property>
</Properties>
</file>